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0" b="1">
                <a:solidFill>
                  <a:srgbClr val="00F5FF"/>
                </a:solidFill>
              </a:defRPr>
            </a:pPr>
            <a:r>
              <a:t>AIdeazz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200" b="0">
                <a:solidFill>
                  <a:srgbClr val="FFFFFF"/>
                </a:solidFill>
              </a:defRPr>
            </a:pPr>
            <a:r>
              <a:t>Emotionally Intelligent Bilingual AI Companions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3291840"/>
            <a:ext cx="10058400" cy="91440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34747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400" b="0">
                <a:solidFill>
                  <a:srgbClr val="141428"/>
                </a:solidFill>
              </a:defRPr>
            </a:pPr>
            <a:r>
              <a:t>For 280M+ expats and local service providers adapting across 19 Spanish-speaking countries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480560"/>
            <a:ext cx="3200400" cy="457200"/>
          </a:xfrm>
          <a:prstGeom prst="roundRect">
            <a:avLst/>
          </a:prstGeom>
          <a:solidFill>
            <a:srgbClr val="DCFFDC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45537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41428"/>
                </a:solidFill>
              </a:defRPr>
            </a:pPr>
            <a:r>
              <a:t>LIVE: WhatsApp | Telegram |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480560"/>
            <a:ext cx="1828800" cy="457200"/>
          </a:xfrm>
          <a:prstGeom prst="roundRect">
            <a:avLst/>
          </a:prstGeom>
          <a:solidFill>
            <a:srgbClr val="DCEB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553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41428"/>
                </a:solidFill>
              </a:defRPr>
            </a:pPr>
            <a:r>
              <a:t>Built for &lt;$15K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480560"/>
            <a:ext cx="1463040" cy="457200"/>
          </a:xfrm>
          <a:prstGeom prst="roundRect">
            <a:avLst/>
          </a:prstGeom>
          <a:solidFill>
            <a:srgbClr val="FFF0D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4553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41428"/>
                </a:solidFill>
              </a:defRPr>
            </a:pPr>
            <a:r>
              <a:t>Pre-Seed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303520"/>
            <a:ext cx="6400800" cy="137160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54864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8B5CF6"/>
                </a:solidFill>
              </a:defRPr>
            </a:pPr>
            <a:r>
              <a:t>Elena Revicheva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8521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141428"/>
                </a:solidFill>
              </a:defRPr>
            </a:pPr>
            <a:r>
              <a:t>Founder, CEO &amp; 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1722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505078"/>
                </a:solidFill>
              </a:defRPr>
            </a:pPr>
            <a:r>
              <a:t>aipa@aideazz.xyz | aideazz.xyz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400" b="1">
                <a:solidFill>
                  <a:srgbClr val="00F5FF"/>
                </a:solidFill>
              </a:defRPr>
            </a:pPr>
            <a:r>
              <a:t>The Problem: 280M+ Expats Face Cultural Adaptation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389120" cy="4114800"/>
          </a:xfrm>
          <a:prstGeom prst="roundRect">
            <a:avLst/>
          </a:prstGeom>
          <a:solidFill>
            <a:srgbClr val="FFE6E6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6400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EF4444"/>
                </a:solidFill>
              </a:defRPr>
            </a:pPr>
            <a:r>
              <a:t>NO EMOTIONAL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Current AI treats language as academic exercise</a:t>
            </a:r>
          </a:p>
          <a:p/>
          <a:p>
            <a:r>
              <a:t>Ignores homesickness, anxiety, cultural shock</a:t>
            </a:r>
          </a:p>
          <a:p/>
          <a:p>
            <a:r>
              <a:t>Generic responses when families need empathy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4389120" cy="4114800"/>
          </a:xfrm>
          <a:prstGeom prst="roundRect">
            <a:avLst/>
          </a:prstGeom>
          <a:solidFill>
            <a:srgbClr val="FFE6E6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400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94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EF4444"/>
                </a:solidFill>
              </a:defRPr>
            </a:pPr>
            <a:r>
              <a:t>NO FAMILY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65176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Treats users as isolated individuals</a:t>
            </a:r>
          </a:p>
          <a:p/>
          <a:p>
            <a:r>
              <a:t>Can't adapt to different family members</a:t>
            </a:r>
          </a:p>
          <a:p/>
          <a:p>
            <a:r>
              <a:t>One-size-fits-all fails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280160"/>
            <a:ext cx="4389120" cy="4114800"/>
          </a:xfrm>
          <a:prstGeom prst="roundRect">
            <a:avLst/>
          </a:prstGeom>
          <a:solidFill>
            <a:srgbClr val="FFE6E6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0" y="1463040"/>
            <a:ext cx="6400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194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EF4444"/>
                </a:solidFill>
              </a:defRPr>
            </a:pPr>
            <a:r>
              <a:t>NO TRUE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65176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Big Tech owns your data</a:t>
            </a:r>
          </a:p>
          <a:p/>
          <a:p>
            <a:r>
              <a:t>Can't sell or transfer your AI</a:t>
            </a:r>
          </a:p>
          <a:p/>
          <a:p>
            <a:r>
              <a:t>Platform shutdown = lose everything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760720"/>
            <a:ext cx="13716000" cy="137160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335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00F5FF"/>
                </a:solidFill>
              </a:defRPr>
            </a:pPr>
            <a:r>
              <a:t>280M+ expats + 50M+ local service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335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0">
                <a:solidFill>
                  <a:srgbClr val="141428"/>
                </a:solidFill>
              </a:defRPr>
            </a:pPr>
            <a:r>
              <a:t>Language barriers + cultural stress + emotional isolation = massive unmet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400" b="1">
                <a:solidFill>
                  <a:srgbClr val="00F5FF"/>
                </a:solidFill>
              </a:defRPr>
            </a:pPr>
            <a:r>
              <a:t>The Solution: Emotionally Intelligent Bilingual AI Companions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400800" cy="484632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00F5FF"/>
                </a:solidFill>
              </a:defRPr>
            </a:pPr>
            <a:r>
              <a:t>EspaLuz AI Tutor -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0">
                <a:solidFill>
                  <a:srgbClr val="141428"/>
                </a:solidFill>
              </a:defRPr>
            </a:pPr>
            <a:r>
              <a:t>wa.me/50766623757</a:t>
            </a:r>
          </a:p>
        </p:txBody>
      </p:sp>
      <p:pic>
        <p:nvPicPr>
          <p:cNvPr id="6" name="Picture 5" descr="qr-whatsapp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560320"/>
            <a:ext cx="301752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71600"/>
            <a:ext cx="7040880" cy="146304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50876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900" b="1">
                <a:solidFill>
                  <a:srgbClr val="10B981"/>
                </a:solidFill>
              </a:defRPr>
            </a:pPr>
            <a:r>
              <a:t>EMOTIONAL INTELLIGENCE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202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Custom 50+ emotion detection | Adapts to homesickness, anxiety</a:t>
            </a:r>
          </a:p>
          <a:p>
            <a:r>
              <a:t>Remembers emotional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017520"/>
            <a:ext cx="7040880" cy="1463040"/>
          </a:xfrm>
          <a:prstGeom prst="roundRect">
            <a:avLst/>
          </a:prstGeom>
          <a:solidFill>
            <a:srgbClr val="DCF5FF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3154680"/>
            <a:ext cx="640080" cy="640080"/>
          </a:xfrm>
          <a:prstGeom prst="round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900" b="1">
                <a:solidFill>
                  <a:srgbClr val="00F5FF"/>
                </a:solidFill>
              </a:defRPr>
            </a:pPr>
            <a:r>
              <a:t>FAMILY-AWARE MEMORY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566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Recognizes relationships, ages | One subscription serves family</a:t>
            </a:r>
          </a:p>
          <a:p>
            <a:r>
              <a:t>Personalized for each member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663440"/>
            <a:ext cx="7040880" cy="146304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480060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46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900" b="1">
                <a:solidFill>
                  <a:srgbClr val="8B5CF6"/>
                </a:solidFill>
              </a:defRPr>
            </a:pPr>
            <a:r>
              <a:t>MULTI-PLATFORM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120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WhatsApp (90%+ LATAM) | Telegram + Web</a:t>
            </a:r>
          </a:p>
          <a:p>
            <a:r>
              <a:t>Voice, text, video avatars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492240"/>
            <a:ext cx="13716000" cy="82296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675120"/>
            <a:ext cx="1335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141428"/>
                </a:solidFill>
              </a:defRPr>
            </a:pPr>
            <a:r>
              <a:t>DUAL-SIDED BRIDGE: Expats learn Spanish | Locals learn English = 2x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200" b="1">
                <a:solidFill>
                  <a:srgbClr val="FFFFFF"/>
                </a:solidFill>
              </a:defRPr>
            </a:pPr>
            <a:r>
              <a:t>Current Traction: Pre-Revenue, Proven Execution (7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F5FF"/>
                </a:solidFill>
              </a:defRPr>
            </a:pPr>
            <a:r>
              <a:t>What We've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583680" cy="118872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10B981"/>
                </a:solidFill>
              </a:defRPr>
            </a:pPr>
            <a:r>
              <a:t>6 LIVE Production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EspaLuz (WhatsApp, Telegram, Web) | ATUONA NFT</a:t>
            </a:r>
          </a:p>
          <a:p>
            <a:r>
              <a:t>ALGOM Alpha AI advisor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6583680" cy="1188720"/>
          </a:xfrm>
          <a:prstGeom prst="roundRect">
            <a:avLst/>
          </a:prstGeom>
          <a:solidFill>
            <a:srgbClr val="DCF5FF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640080" cy="640080"/>
          </a:xfrm>
          <a:prstGeom prst="round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F5FF"/>
                </a:solidFill>
              </a:defRPr>
            </a:pPr>
            <a:r>
              <a:t>50,000+ Lines of Production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20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TypeScript, Python, JavaScript, SQL | 70+ React</a:t>
            </a:r>
          </a:p>
          <a:p>
            <a:r>
              <a:t>8+ AI integrations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6583680" cy="118872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8B5CF6"/>
                </a:solidFill>
              </a:defRPr>
            </a:pPr>
            <a:r>
              <a:t>Infrastructure Ready to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92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PayPal subscriptions LIVE | 99%+ uptime</a:t>
            </a:r>
          </a:p>
          <a:p>
            <a:r>
              <a:t>19 countries addressable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1887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F5FF"/>
                </a:solidFill>
              </a:defRPr>
            </a:pPr>
            <a:r>
              <a:t>Why It Matters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645920"/>
            <a:ext cx="6583680" cy="1463040"/>
          </a:xfrm>
          <a:prstGeom prst="roundRect">
            <a:avLst/>
          </a:prstGeom>
          <a:solidFill>
            <a:srgbClr val="FFF0D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178308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F59E0B"/>
                </a:solidFill>
              </a:defRPr>
            </a:pPr>
            <a:r>
              <a:t>CAPITAL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94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800" b="1">
                <a:solidFill>
                  <a:srgbClr val="00F5FF"/>
                </a:solidFill>
              </a:defRPr>
            </a:pPr>
            <a:r>
              <a:t>98% cost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43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&lt;$15K vs. $950K traditional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291840"/>
            <a:ext cx="6583680" cy="1097280"/>
          </a:xfrm>
          <a:prstGeom prst="roundRect">
            <a:avLst/>
          </a:prstGeom>
          <a:solidFill>
            <a:srgbClr val="DCEB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290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3B82F6"/>
                </a:solidFill>
              </a:defRPr>
            </a:pPr>
            <a:r>
              <a:t>SPEED OF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74903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Solo-built in 7 months | 10x faster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4526280"/>
            <a:ext cx="6583680" cy="105156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634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10B981"/>
                </a:solidFill>
              </a:defRPr>
            </a:pPr>
            <a:r>
              <a:t>EARLY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983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~10 users (zero marketing) | 40% better retention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3716000" cy="109728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26480"/>
            <a:ext cx="1335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141428"/>
                </a:solidFill>
              </a:defRPr>
            </a:pPr>
            <a:r>
              <a:t>PRE-REVENUE BY DESIGN: Built production infrastructure first</a:t>
            </a:r>
          </a:p>
          <a:p>
            <a:r>
              <a:t>Funding activates growth immediately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200" b="1">
                <a:solidFill>
                  <a:srgbClr val="00F5FF"/>
                </a:solidFill>
              </a:defRPr>
            </a:pPr>
            <a:r>
              <a:t>Business Model: Subscription SaaS (Ready to Activate)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291840" cy="1920240"/>
          </a:xfrm>
          <a:prstGeom prst="roundRect">
            <a:avLst/>
          </a:prstGeom>
          <a:solidFill>
            <a:srgbClr val="DCF5FF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00F5FF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600" b="1">
                <a:solidFill>
                  <a:srgbClr val="141428"/>
                </a:solidFill>
              </a:defRPr>
            </a:pPr>
            <a:r>
              <a:t>$15/mo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Individual | Core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60%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280160"/>
            <a:ext cx="3291840" cy="192024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8B5CF6"/>
                </a:solidFill>
              </a:defRPr>
            </a:pPr>
            <a:r>
              <a:t>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600" b="1">
                <a:solidFill>
                  <a:srgbClr val="141428"/>
                </a:solidFill>
              </a:defRPr>
            </a:pPr>
            <a:r>
              <a:t>$35/mo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2-4 members |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3B82F6"/>
                </a:solidFill>
              </a:defRPr>
            </a:pPr>
            <a:r>
              <a:t>30%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280160"/>
            <a:ext cx="3291840" cy="1920240"/>
          </a:xfrm>
          <a:prstGeom prst="roundRect">
            <a:avLst/>
          </a:prstGeom>
          <a:solidFill>
            <a:srgbClr val="FFF0D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417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F59E0B"/>
                </a:solidFill>
              </a:defRPr>
            </a:pPr>
            <a:r>
              <a:t>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600" b="1">
                <a:solidFill>
                  <a:srgbClr val="141428"/>
                </a:solidFill>
              </a:defRPr>
            </a:pPr>
            <a:r>
              <a:t>$75/mo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1-on-1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59E0B"/>
                </a:solidFill>
              </a:defRPr>
            </a:pPr>
            <a:r>
              <a:t>8%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81360" y="1280160"/>
            <a:ext cx="3291840" cy="192024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0" y="1417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10B981"/>
                </a:solidFill>
              </a:defRPr>
            </a:pPr>
            <a: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200" b="1">
                <a:solidFill>
                  <a:srgbClr val="141428"/>
                </a:solidFill>
              </a:defRPr>
            </a:pPr>
            <a:r>
              <a:t>$200-500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Schools/Corps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2%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474720"/>
            <a:ext cx="8229600" cy="68580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59359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400" b="1">
                <a:solidFill>
                  <a:srgbClr val="141428"/>
                </a:solidFill>
              </a:defRPr>
            </a:pPr>
            <a:r>
              <a:t>BLENDED ARPU: $25/month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34840"/>
            <a:ext cx="4389120" cy="137160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200" b="1">
                <a:solidFill>
                  <a:srgbClr val="141428"/>
                </a:solidFill>
              </a:defRPr>
            </a:pPr>
            <a:r>
              <a:t>$300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LTV (24-month retention)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4434840"/>
            <a:ext cx="4389120" cy="1371600"/>
          </a:xfrm>
          <a:prstGeom prst="roundRect">
            <a:avLst/>
          </a:prstGeom>
          <a:solidFill>
            <a:srgbClr val="DCF5FF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4572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200" b="1">
                <a:solidFill>
                  <a:srgbClr val="141428"/>
                </a:solidFill>
              </a:defRPr>
            </a:pPr>
            <a:r>
              <a:t>$30-65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166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CAC (organic + paid)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4434840"/>
            <a:ext cx="4389120" cy="137160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4572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200" b="1">
                <a:solidFill>
                  <a:srgbClr val="141428"/>
                </a:solidFill>
              </a:defRPr>
            </a:pPr>
            <a:r>
              <a:t>4.6:1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166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LTV:CAC (VCs want 3:1+)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800" b="1">
                <a:solidFill>
                  <a:srgbClr val="00F5FF"/>
                </a:solidFill>
              </a:defRPr>
            </a:pPr>
            <a:r>
              <a:t>$37B+ TAM by 2030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9144000" cy="146304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55448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6800" b="1">
                <a:solidFill>
                  <a:srgbClr val="00F5FF"/>
                </a:solidFill>
              </a:defRPr>
            </a:pPr>
            <a:r>
              <a:t>$37B+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402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141428"/>
                </a:solidFill>
              </a:defRPr>
            </a:pPr>
            <a:r>
              <a:t>AI Assistants: $25B | Language Learning: $12B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6583680" cy="301752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400" b="1">
                <a:solidFill>
                  <a:srgbClr val="8B5CF6"/>
                </a:solidFill>
              </a:defRPr>
            </a:pPr>
            <a:r>
              <a:t>TOP-DOWN: 330M+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280M+ EXPATS WORLDWIDE</a:t>
            </a:r>
          </a:p>
          <a:p>
            <a:r>
              <a:t>- Permanent: 108M</a:t>
            </a:r>
          </a:p>
          <a:p>
            <a:r>
              <a:t>- Long-term travelers: 89M</a:t>
            </a:r>
          </a:p>
          <a:p>
            <a:r>
              <a:t>- Digital nomads: 35M</a:t>
            </a:r>
          </a:p>
          <a:p/>
          <a:p>
            <a:r>
              <a:t>50M+ LOCAL SERVICE PROVIDERS</a:t>
            </a:r>
          </a:p>
          <a:p>
            <a:r>
              <a:t>- Restaurants, hospitality, tours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200400"/>
            <a:ext cx="6583680" cy="301752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383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400" b="1">
                <a:solidFill>
                  <a:srgbClr val="10B981"/>
                </a:solidFill>
              </a:defRPr>
            </a:pPr>
            <a:r>
              <a:t>BOTTOMS-UP: 19 Countries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749039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141428"/>
                </a:solidFill>
              </a:defRPr>
            </a:pPr>
            <a:r>
              <a:t>1% penetration = 2.8M users</a:t>
            </a:r>
          </a:p>
          <a:p>
            <a:r>
              <a:t>10% conversion = 280K paying</a:t>
            </a:r>
          </a:p>
          <a:p/>
          <a:p>
            <a:r>
              <a:t>$84M ARR AT 10%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3949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10B981"/>
                </a:solidFill>
              </a:defRPr>
            </a:pPr>
            <a:r>
              <a:t>AT 5% PENETRATION:</a:t>
            </a:r>
          </a:p>
          <a:p>
            <a:r>
              <a:t>$420M ARR POTENTIAL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200" b="1">
                <a:solidFill>
                  <a:srgbClr val="00F5FF"/>
                </a:solidFill>
              </a:defRPr>
            </a:pPr>
            <a:r>
              <a:t>Financials: 12-Month Growth to $186K ARR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2801600" cy="246888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141428"/>
                </a:solidFill>
              </a:defRPr>
            </a:pPr>
            <a:r>
              <a:t>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463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600" b="1">
                <a:solidFill>
                  <a:srgbClr val="141428"/>
                </a:solidFill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63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600" b="1">
                <a:solidFill>
                  <a:srgbClr val="141428"/>
                </a:solidFill>
              </a:defRPr>
            </a:pPr>
            <a:r>
              <a:t>Paying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63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600" b="1">
                <a:solidFill>
                  <a:srgbClr val="141428"/>
                </a:solidFill>
              </a:defRPr>
            </a:pPr>
            <a:r>
              <a:t>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63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600" b="1">
                <a:solidFill>
                  <a:srgbClr val="141428"/>
                </a:solidFill>
              </a:defRPr>
            </a:pPr>
            <a:r>
              <a:t>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$365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$4.4K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650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$1,800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$21.6K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423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1,970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423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197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$5,625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$67.5K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4,800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480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$15,525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800" b="1">
                <a:solidFill>
                  <a:srgbClr val="00F5FF"/>
                </a:solidFill>
              </a:defRPr>
            </a:pPr>
            <a:r>
              <a:t>$186K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114800"/>
            <a:ext cx="6583680" cy="1463040"/>
          </a:xfrm>
          <a:prstGeom prst="roundRect">
            <a:avLst/>
          </a:prstGeom>
          <a:solidFill>
            <a:srgbClr val="DCEB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97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3B82F6"/>
                </a:solidFill>
              </a:defRPr>
            </a:pPr>
            <a:r>
              <a:t>3-Year Trajectory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177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Y1: 4,800 users | $186K ARR</a:t>
            </a:r>
          </a:p>
          <a:p>
            <a:r>
              <a:t>Y2: 25,000 users | $1.2M ARR</a:t>
            </a:r>
          </a:p>
          <a:p>
            <a:r>
              <a:t>Y3: 120,000 users | $6M ARR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114800"/>
            <a:ext cx="6583680" cy="146304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297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10B981"/>
                </a:solidFill>
              </a:defRPr>
            </a:pPr>
            <a:r>
              <a:t>Key Assumptions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6177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10% Conversion (industry std)</a:t>
            </a:r>
          </a:p>
          <a:p>
            <a:r>
              <a:t>CAC: $30-65 | LTV: $300</a:t>
            </a:r>
          </a:p>
          <a:p>
            <a:r>
              <a:t>Churn: 6% monthly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5943600"/>
            <a:ext cx="9144000" cy="73152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6099048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141428"/>
                </a:solidFill>
              </a:defRPr>
            </a:pPr>
            <a:r>
              <a:t>BREAK-EVEN: Month 15-18  |  Series A ready Month 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200" b="1">
                <a:solidFill>
                  <a:srgbClr val="00F5FF"/>
                </a:solidFill>
              </a:defRPr>
            </a:pPr>
            <a:r>
              <a:t>Team: Solo Founder Ready to Build World-Class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6400800" cy="502920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00F5FF"/>
                </a:solidFill>
              </a:defRPr>
            </a:pPr>
            <a:r>
              <a:t>ELENA REVICHEVA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141428"/>
                </a:solidFill>
              </a:defRPr>
            </a:pPr>
            <a:r>
              <a:t>Founder, CEO &amp; 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8B5CF6"/>
                </a:solidFill>
              </a:defRPr>
            </a:pPr>
            <a:r>
              <a:t>EXECUTIVE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Former Chief Legal Officer &amp; IT Executive</a:t>
            </a:r>
          </a:p>
          <a:p>
            <a:r>
              <a:t>7 years digital transformation</a:t>
            </a:r>
          </a:p>
          <a:p>
            <a:r>
              <a:t>Executive: strategy, team mgmt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033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TECHNICAL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7763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Self-taught AI engineer (2025)</a:t>
            </a:r>
          </a:p>
          <a:p>
            <a:r>
              <a:t>6 apps in 7 months for &lt;$15K</a:t>
            </a:r>
          </a:p>
          <a:p>
            <a:r>
              <a:t>50,000+ lines of code</a:t>
            </a:r>
          </a:p>
          <a:p>
            <a:r>
              <a:t>8+ AI service integrations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640080" cy="640080"/>
          </a:xfrm>
          <a:prstGeom prst="round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663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00F5FF"/>
                </a:solidFill>
              </a:defRPr>
            </a:pPr>
            <a:r>
              <a:t>FOUNDER-MARKET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406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Russia to Panama (2022) single mother</a:t>
            </a:r>
          </a:p>
          <a:p>
            <a:r>
              <a:t>Lived the problem | Bilingual EN/ES</a:t>
            </a:r>
          </a:p>
          <a:p>
            <a:r>
              <a:t>Deep expat &amp; local understanding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280160"/>
            <a:ext cx="6858000" cy="2103120"/>
          </a:xfrm>
          <a:prstGeom prst="roundRect">
            <a:avLst/>
          </a:prstGeom>
          <a:solidFill>
            <a:srgbClr val="DCEB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4630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3B82F6"/>
                </a:solidFill>
              </a:defRPr>
            </a:pPr>
            <a:r>
              <a:t>STRATEGIC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783080"/>
            <a:ext cx="6492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Innovation Smart District Panama</a:t>
            </a:r>
          </a:p>
          <a:p>
            <a:r>
              <a:t>Ecosystem support, LATAM network</a:t>
            </a:r>
          </a:p>
          <a:p/>
          <a:p>
            <a:r>
              <a:t>Decentralized AI Agent Alliance</a:t>
            </a:r>
          </a:p>
          <a:p>
            <a:r>
              <a:t>Industry recognition, global AI community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566160"/>
            <a:ext cx="6858000" cy="2743200"/>
          </a:xfrm>
          <a:prstGeom prst="roundRect">
            <a:avLst/>
          </a:prstGeom>
          <a:solidFill>
            <a:srgbClr val="FFF0D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374903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F59E0B"/>
                </a:solidFill>
              </a:defRPr>
            </a:pPr>
            <a:r>
              <a:t>PLANNED HIRES (12-18 Months)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114800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1ST: Full-Stack Engineer</a:t>
            </a:r>
          </a:p>
          <a:p>
            <a:r>
              <a:t>Scaling products, mobile app</a:t>
            </a:r>
          </a:p>
          <a:p/>
          <a:p>
            <a:r>
              <a:t>2ND: Growth Marketer</a:t>
            </a:r>
          </a:p>
          <a:p>
            <a:r>
              <a:t>User acquisition, partnerships</a:t>
            </a:r>
          </a:p>
          <a:p/>
          <a:p>
            <a:r>
              <a:t>3RD: Operations Manager</a:t>
            </a:r>
          </a:p>
          <a:p>
            <a:r>
              <a:t>Customer support, B2B deals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000" b="1">
                <a:solidFill>
                  <a:srgbClr val="00F5FF"/>
                </a:solidFill>
              </a:defRPr>
            </a:pPr>
            <a:r>
              <a:t>Competition: Only Platform with ALL Key Differentiators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3716000" cy="292608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141428"/>
                </a:solidFill>
              </a:defRPr>
            </a:pPr>
            <a:r>
              <a:t>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41428"/>
                </a:solidFill>
              </a:defRPr>
            </a:pPr>
            <a:r>
              <a:t>Duolingo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41428"/>
                </a:solidFill>
              </a:defRPr>
            </a:pPr>
            <a:r>
              <a:t>Babbel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41428"/>
                </a:solidFill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1371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00F5FF"/>
                </a:solidFill>
              </a:defRPr>
            </a:pPr>
            <a:r>
              <a:t>AIdeazz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Emotional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59E0B"/>
                </a:solidFill>
              </a:defRPr>
            </a:pPr>
            <a:r>
              <a:t>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1691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842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Family Context &amp;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842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9842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19842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76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Multi-Platform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59E0B"/>
                </a:solidFill>
              </a:defRPr>
            </a:pPr>
            <a:r>
              <a:t>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22768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56946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Cultural Adaptation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569463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59E0B"/>
                </a:solidFill>
              </a:defRPr>
            </a:pPr>
            <a:r>
              <a:t>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69463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59E0B"/>
                </a:solidFill>
              </a:defRPr>
            </a:pPr>
            <a:r>
              <a:t>~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569463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569463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86207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Web3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862071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862071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862071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2862071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1546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Dual Marketplace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1546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1546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1546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15467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44728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98% Capital Efficient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44728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4728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44728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34472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389120"/>
            <a:ext cx="4389120" cy="128016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572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10B981"/>
                </a:solidFill>
              </a:defRPr>
            </a:pPr>
            <a:r>
              <a:t>DUOLINGO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892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$7B+ market cap</a:t>
            </a:r>
          </a:p>
          <a:p>
            <a:r>
              <a:t>Gamified, not emotionally intelligent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0640" y="4389120"/>
            <a:ext cx="4389120" cy="128016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4572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8B5CF6"/>
                </a:solidFill>
              </a:defRPr>
            </a:pPr>
            <a:r>
              <a:t>BABBEL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4892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$1B+ valuation</a:t>
            </a:r>
          </a:p>
          <a:p>
            <a:r>
              <a:t>Traditional courses, not AI-first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4389120"/>
            <a:ext cx="4389120" cy="1280160"/>
          </a:xfrm>
          <a:prstGeom prst="roundRect">
            <a:avLst/>
          </a:prstGeom>
          <a:solidFill>
            <a:srgbClr val="DCEB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4572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3B82F6"/>
                </a:solidFill>
              </a:defRPr>
            </a:pPr>
            <a:r>
              <a:t>CHATGPT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892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$80B+ valuation</a:t>
            </a:r>
          </a:p>
          <a:p>
            <a:r>
              <a:t>Generic AI, not specialized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943600"/>
            <a:ext cx="13716000" cy="109728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080760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F5FF"/>
                </a:solidFill>
              </a:defRPr>
            </a:pPr>
            <a:r>
              <a:t>OUR DEFENSIBLE MOATS: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00800"/>
            <a:ext cx="1335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41428"/>
                </a:solidFill>
              </a:defRPr>
            </a:pPr>
            <a:r>
              <a:t>Technical: Custom emotion detection | Data: Family context improves</a:t>
            </a:r>
          </a:p>
          <a:p>
            <a:r>
              <a:t>Execution: Vibe coding = 10x faster | Market: First-mover emotional AI + Web3 in LATAM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200" b="1">
                <a:solidFill>
                  <a:srgbClr val="00F5FF"/>
                </a:solidFill>
              </a:defRPr>
            </a:pPr>
            <a:r>
              <a:t>Funding: Seeking $100K-$500K Pre-Seed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10058400" cy="137160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3716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00F5FF"/>
                </a:solidFill>
              </a:defRPr>
            </a:pPr>
            <a:r>
              <a:t>$100K - $500K PRE-SEED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74519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141428"/>
                </a:solidFill>
              </a:defRPr>
            </a:pPr>
            <a:r>
              <a:t>From ~10 users to 4,800 users in 12 months</a:t>
            </a:r>
          </a:p>
          <a:p>
            <a:r>
              <a:t>Path to $186K ARR | Series A Ready Month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3200400" cy="1920240"/>
          </a:xfrm>
          <a:prstGeom prst="roundRect">
            <a:avLst/>
          </a:prstGeom>
          <a:solidFill>
            <a:srgbClr val="DCF5FF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971800"/>
            <a:ext cx="640080" cy="640080"/>
          </a:xfrm>
          <a:prstGeom prst="round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00F5FF"/>
                </a:solidFill>
              </a:defRPr>
            </a:pPr>
            <a: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91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141428"/>
                </a:solidFill>
              </a:defRPr>
            </a:pPr>
            <a:r>
              <a:t>$40K-200K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661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141428"/>
                </a:solidFill>
              </a:defRPr>
            </a:pPr>
            <a:r>
              <a:t>1-2 full-stack engineers</a:t>
            </a:r>
          </a:p>
          <a:p>
            <a:r>
              <a:t>Mobile app (React Native)</a:t>
            </a:r>
          </a:p>
          <a:p>
            <a:r>
              <a:t>Analytics systems</a:t>
            </a:r>
          </a:p>
          <a:p>
            <a:r>
              <a:t>ERC-7857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834640"/>
            <a:ext cx="3200400" cy="192024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7639" y="297180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141428"/>
                </a:solidFill>
              </a:defRPr>
            </a:pPr>
            <a:r>
              <a:t>$30K-150K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141428"/>
                </a:solidFill>
              </a:defRPr>
            </a:pPr>
            <a:r>
              <a:t>User acquisition (ads)</a:t>
            </a:r>
          </a:p>
          <a:p>
            <a:r>
              <a:t>SEO, content, influencers</a:t>
            </a:r>
          </a:p>
          <a:p>
            <a:r>
              <a:t>5-10 country expansion</a:t>
            </a:r>
          </a:p>
          <a:p>
            <a:r>
              <a:t>School partnerships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834640"/>
            <a:ext cx="3200400" cy="192024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0920" y="297180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175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8B5CF6"/>
                </a:solidFill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291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141428"/>
                </a:solidFill>
              </a:defRPr>
            </a:pPr>
            <a:r>
              <a:t>$20K-100K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661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141428"/>
                </a:solidFill>
              </a:defRPr>
            </a:pPr>
            <a:r>
              <a:t>Legal (19 countries)</a:t>
            </a:r>
          </a:p>
          <a:p>
            <a:r>
              <a:t>Customer support team</a:t>
            </a:r>
          </a:p>
          <a:p>
            <a:r>
              <a:t>B2B partnerships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2834640"/>
            <a:ext cx="3200400" cy="1920240"/>
          </a:xfrm>
          <a:prstGeom prst="roundRect">
            <a:avLst/>
          </a:prstGeom>
          <a:solidFill>
            <a:srgbClr val="FFF0D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44200" y="297180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30175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59E0B"/>
                </a:solidFill>
              </a:defRPr>
            </a:pPr>
            <a:r>
              <a:t>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3291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141428"/>
                </a:solidFill>
              </a:defRPr>
            </a:pPr>
            <a:r>
              <a:t>$10K-50K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35661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141428"/>
                </a:solidFill>
              </a:defRPr>
            </a:pPr>
            <a:r>
              <a:t>12-18 month runway</a:t>
            </a:r>
          </a:p>
          <a:p>
            <a:r>
              <a:t>Unexpected costs</a:t>
            </a:r>
          </a:p>
          <a:p>
            <a:r>
              <a:t>Contingency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0640"/>
            <a:ext cx="13716000" cy="118872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00F5FF"/>
                </a:solidFill>
              </a:defRPr>
            </a:pPr>
            <a:r>
              <a:t>WHY THIS IS A SMART BET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335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Built 6 apps for &lt;$15K = 98% COST REDUCTION | Every investor dollar goes 50x further</a:t>
            </a:r>
          </a:p>
          <a:p>
            <a:r>
              <a:t>Proven execution: 6 LIVE products, not slides | Clear milestones: Q1-Q4 roadmap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6675120"/>
            <a:ext cx="7315200" cy="548640"/>
          </a:xfrm>
          <a:prstGeom prst="roundRect">
            <a:avLst/>
          </a:prstGeom>
          <a:solidFill>
            <a:srgbClr val="DCEB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68122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141428"/>
                </a:solidFill>
              </a:defRPr>
            </a:pPr>
            <a:r>
              <a:t>STAGE: Pre-Seed  |  RAISED: $0 (bootstrapped &lt;$15K)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51E"/>
            </a:gs>
            <a:gs pos="100000">
              <a:srgbClr val="142864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600" b="1">
                <a:solidFill>
                  <a:srgbClr val="00F5FF"/>
                </a:solidFill>
              </a:defRPr>
            </a:pPr>
            <a:r>
              <a:t>Ready to Scale Proven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389120" cy="128016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MASSIVE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$37B+ TAM | 280M+ expats</a:t>
            </a:r>
          </a:p>
          <a:p>
            <a:r>
              <a:t>19 countries | Dual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4389120" cy="1280160"/>
          </a:xfrm>
          <a:prstGeom prst="roundRect">
            <a:avLst/>
          </a:prstGeom>
          <a:solidFill>
            <a:srgbClr val="DCF5FF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640080" cy="640080"/>
          </a:xfrm>
          <a:prstGeom prst="round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00F5FF"/>
                </a:solidFill>
              </a:defRPr>
            </a:pPr>
            <a:r>
              <a:t>REAL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6 LIVE apps | 50K lines of code</a:t>
            </a:r>
          </a:p>
          <a:p>
            <a:r>
              <a:t>Built in 7 months for &lt;$15K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280160"/>
            <a:ext cx="4389120" cy="1280160"/>
          </a:xfrm>
          <a:prstGeom prst="roundRect">
            <a:avLst/>
          </a:prstGeom>
          <a:solidFill>
            <a:srgbClr val="EBE1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21240" y="141732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4630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8B5CF6"/>
                </a:solidFill>
              </a:defRPr>
            </a:pPr>
            <a:r>
              <a:t>UNIQUE 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1737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Only platform: emotional AI +</a:t>
            </a:r>
          </a:p>
          <a:p>
            <a:r>
              <a:t>family context + Web3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4389120" cy="1280160"/>
          </a:xfrm>
          <a:prstGeom prst="roundRect">
            <a:avLst/>
          </a:prstGeom>
          <a:solidFill>
            <a:srgbClr val="FFF0D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88036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26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59E0B"/>
                </a:solidFill>
              </a:defRPr>
            </a:pPr>
            <a:r>
              <a:t>CAPITAL 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98% cost reduction</a:t>
            </a:r>
          </a:p>
          <a:p>
            <a:r>
              <a:t>Investor $ goes 50x further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743200"/>
            <a:ext cx="4389120" cy="1280160"/>
          </a:xfrm>
          <a:prstGeom prst="roundRect">
            <a:avLst/>
          </a:prstGeom>
          <a:solidFill>
            <a:srgbClr val="DCFFE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800" y="288036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926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10B981"/>
                </a:solidFill>
              </a:defRPr>
            </a:pPr>
            <a:r>
              <a:t>CLEAR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$100K-500K &gt; 4,800 users</a:t>
            </a:r>
          </a:p>
          <a:p>
            <a:r>
              <a:t>$186K ARR &gt; Series A (18mo)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2743200"/>
            <a:ext cx="4389120" cy="1280160"/>
          </a:xfrm>
          <a:prstGeom prst="roundRect">
            <a:avLst/>
          </a:prstGeom>
          <a:solidFill>
            <a:srgbClr val="DCF5FF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21240" y="2880360"/>
            <a:ext cx="640080" cy="640080"/>
          </a:xfrm>
          <a:prstGeom prst="round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926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00F5FF"/>
                </a:solidFill>
              </a:defRPr>
            </a:pPr>
            <a:r>
              <a:t>FOUNDER-MARKET 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141428"/>
                </a:solidFill>
              </a:defRPr>
            </a:pPr>
            <a:r>
              <a:t>Lived the problem | Executive +</a:t>
            </a:r>
          </a:p>
          <a:p>
            <a:r>
              <a:t>technical | Ready to build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4389120"/>
            <a:ext cx="11887200" cy="192024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5720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8B5CF6"/>
                </a:solidFill>
              </a:defRPr>
            </a:pPr>
            <a:r>
              <a:t>ELENA REVICHEVA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377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0">
                <a:solidFill>
                  <a:srgbClr val="141428"/>
                </a:solidFill>
              </a:defRPr>
            </a:pPr>
            <a:r>
              <a:t>Founder, CEO &amp; 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49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Email: aipa@aideazz.xyz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623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Demo: wa.me/50766623757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349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Website: aideazz.xyz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623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141428"/>
                </a:solidFill>
              </a:defRPr>
            </a:pPr>
            <a:r>
              <a:t>LinkedIn: linkedin.com/in/elenarevicheva</a:t>
            </a:r>
          </a:p>
        </p:txBody>
      </p:sp>
      <p:pic>
        <p:nvPicPr>
          <p:cNvPr id="34" name="Picture 33" descr="qr-whatsapp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4572000"/>
            <a:ext cx="1234440" cy="12344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34640" y="5852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141428"/>
                </a:solidFill>
              </a:defRPr>
            </a:pPr>
            <a:r>
              <a:t>WhatsApp</a:t>
            </a:r>
          </a:p>
        </p:txBody>
      </p:sp>
      <p:pic>
        <p:nvPicPr>
          <p:cNvPr id="36" name="Picture 35" descr="qr-webs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572000"/>
            <a:ext cx="1234440" cy="12344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92240" y="5852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141428"/>
                </a:solidFill>
              </a:defRPr>
            </a:pPr>
            <a:r>
              <a:t>Website</a:t>
            </a:r>
          </a:p>
        </p:txBody>
      </p:sp>
      <p:pic>
        <p:nvPicPr>
          <p:cNvPr id="38" name="Picture 37" descr="qr-business-c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4572000"/>
            <a:ext cx="1234440" cy="12344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149840" y="5852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141428"/>
                </a:solidFill>
              </a:defRPr>
            </a:pPr>
            <a:r>
              <a:t>Portfolio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6675120"/>
            <a:ext cx="10972800" cy="685800"/>
          </a:xfrm>
          <a:prstGeom prst="roundRect">
            <a:avLst/>
          </a:prstGeom>
          <a:solidFill>
            <a:srgbClr val="F0F2FA"/>
          </a:solidFill>
          <a:ln w="381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681228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141428"/>
                </a:solidFill>
              </a:defRPr>
            </a:pPr>
            <a:r>
              <a:t>AIdeazz: Where Emotional AI Meets Human Potential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7059168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0">
                <a:solidFill>
                  <a:srgbClr val="505078"/>
                </a:solidFill>
              </a:defRPr>
            </a:pPr>
            <a:r>
              <a:t>Building the future of culturally-intelligent AI companions for 280M+ expats worldwide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7772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696AA"/>
                </a:solidFill>
              </a:defRPr>
            </a:pPr>
            <a:r>
              <a:t>(c) 2025 AIdeazz. Confidential.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0" y="7772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000" b="0">
                <a:solidFill>
                  <a:srgbClr val="00F5FF"/>
                </a:solidFill>
              </a:defRPr>
            </a:pPr>
            <a:r>
              <a:t>aideazz.xyz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